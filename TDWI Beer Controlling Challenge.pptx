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7" r:id="rId8"/>
    <p:sldId id="265" r:id="rId9"/>
    <p:sldId id="266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Volumen (hl)</c:v>
                </c:pt>
              </c:strCache>
            </c:strRef>
          </c:tx>
          <c:spPr>
            <a:solidFill>
              <a:srgbClr val="C8860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2A2018"/>
                    </a:solidFill>
                    <a:latin typeface="Calibri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90740</c:v>
                </c:pt>
                <c:pt idx="1">
                  <c:v>98360</c:v>
                </c:pt>
                <c:pt idx="2">
                  <c:v>103120</c:v>
                </c:pt>
                <c:pt idx="3">
                  <c:v>41225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25-429D-B3C5-E2B1EEF1A3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5D4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272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ZLATÝ LEV = Goldener Löwe, fiktive Prager Brauerei seit 1882. Heute: derselbe Case, drei Tools live nebeneinander.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Case bewusst realistisch: saubere Ist-Daten, aber rohe Finance-Planung. 11 Biere, 4 Jahre, Daten in 5 Quellformaten lieferbar.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 betonen: Zahlen sind nicht generiert, sondern aus dem realen Report. 2026 ist Teiljahr — der niedrige Balken ist kein Datenfehler.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Long-/Account-Format ist die zentrale Designentscheidung: macht die drei Tools überhaupt fair vergleichbar.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eigentliche Härtetest sind nicht die Ist-Daten, sondern das Entwirren der Finance-Kreuztabelle. Die Kontroll-Summe prüft, ob jedes Tool sauber geladen 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drei Champions und ihre Tools: Michael Tenner (Power BI), Janine Ellner (Pyramid), Falk Preuß (SAP Analytics Cloud). Janine = Pyramid per Zuordnung — bitte prüfen.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CE042-6A02-52D7-ED28-A784641F6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EF5A85-24FD-2DC6-F10D-8B706D17B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4377C-8723-187C-EFFA-1C07D350F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drei Champions und ihre Tools: Michael Tenner (Power BI), Janine Ellner (Pyramid), Falk Preuß (SAP Analytics Cloud). Janine = Pyramid per Zuordnung — bitte prüfen.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93275-99A3-077B-D19C-C1EBC0BE4E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9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 &amp; Q&amp;A. Feedback-QR (Slot Mi 8.6) einblenden — Publikum zum Scannen einladen.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0C2B1-3F58-0C2A-F7B7-C133CD497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54AA4-27C9-9005-8D8B-E3DAA94A2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E89E0-AC50-41A5-730F-9169A46A8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 &amp; Q&amp;A. Feedback-QR (Slot Mi 8.6) einblenden — Publikum zum Scannen einladen.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30995-C3B4-68E6-A7A6-59204469E0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57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7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2C201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10607040" y="3108960"/>
            <a:ext cx="3108960" cy="3108960"/>
          </a:xfrm>
          <a:prstGeom prst="ellipse">
            <a:avLst/>
          </a:prstGeom>
          <a:solidFill>
            <a:srgbClr val="2C201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2C2016"/>
          </a:solidFill>
          <a:ln w="15875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0149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C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ZLATÝ LEV · CONTROLLING – Challenge inspired by BEER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2E7C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Drei Tools, ein Datenmodell.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vs. Pyramid vs. SAP Analytics Cloud — derselbe Brauerei-Case, drei Welten.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868680" y="5806440"/>
            <a:ext cx="2011680" cy="0"/>
          </a:xfrm>
          <a:prstGeom prst="line">
            <a:avLst/>
          </a:prstGeom>
          <a:noFill/>
          <a:ln w="2540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86868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A89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TDWI München 2026  ·  Janine | Falk | Michael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ZLATÝ LEV — eine Prager Brauerei, gegründet 1882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ein echter Case statt Demo-Random?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5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Tool-Vergleiche sind nur ehrlich, wenn alle dieselben, realistischen Daten verarbeiten — mit allen Ecken, die echte Reporting-Projekte haben: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Ist-Daten aus einem sauberen DWH-Sternschema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Plan-Daten als „rohe" Excel-Kreuztabelle aus Finance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Key-Account-Planung je Großkunde × Produkt × Monat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Volumina = exakte Werte aus dem Original-Report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78040" y="1325880"/>
            <a:ext cx="2240280" cy="1481328"/>
          </a:xfrm>
          <a:prstGeom prst="roundRect">
            <a:avLst>
              <a:gd name="adj" fmla="val 4321"/>
            </a:avLst>
          </a:prstGeom>
          <a:solidFill>
            <a:srgbClr val="F8F2E6"/>
          </a:solidFill>
          <a:ln w="9525">
            <a:solidFill>
              <a:srgbClr val="E3D9C4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178040" y="149047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8860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287768" y="2286000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5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Biere im Sortiment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92640" y="1325880"/>
            <a:ext cx="2240280" cy="1481328"/>
          </a:xfrm>
          <a:prstGeom prst="roundRect">
            <a:avLst>
              <a:gd name="adj" fmla="val 4321"/>
            </a:avLst>
          </a:prstGeom>
          <a:solidFill>
            <a:srgbClr val="F8F2E6"/>
          </a:solidFill>
          <a:ln w="9525">
            <a:solidFill>
              <a:srgbClr val="E3D9C4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692640" y="149047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8860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802368" y="2286000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5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 Historie 2023–26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78040" y="3081528"/>
            <a:ext cx="2240280" cy="1481328"/>
          </a:xfrm>
          <a:prstGeom prst="roundRect">
            <a:avLst>
              <a:gd name="adj" fmla="val 4321"/>
            </a:avLst>
          </a:prstGeom>
          <a:solidFill>
            <a:srgbClr val="F8F2E6"/>
          </a:solidFill>
          <a:ln w="9525">
            <a:solidFill>
              <a:srgbClr val="E3D9C4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178040" y="32461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8860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7287768" y="4041648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5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Quell-Varianten*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92640" y="3081528"/>
            <a:ext cx="2240280" cy="1481328"/>
          </a:xfrm>
          <a:prstGeom prst="roundRect">
            <a:avLst>
              <a:gd name="adj" fmla="val 4321"/>
            </a:avLst>
          </a:prstGeom>
          <a:solidFill>
            <a:srgbClr val="F8F2E6"/>
          </a:solidFill>
          <a:ln w="9525">
            <a:solidFill>
              <a:srgbClr val="E3D9C4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9692640" y="32461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8860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1882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9802368" y="4041648"/>
            <a:ext cx="2020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5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gegründet in Prag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7804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Excel · CSV · SQLite · PostgreSQL-Dump · DDL für Fabric/Azure SQL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Echte Reportzahlen — </a:t>
            </a:r>
            <a:r>
              <a:rPr lang="en-US" sz="2400" b="1" dirty="0" err="1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kein</a:t>
            </a:r>
            <a:r>
              <a:rPr lang="en-US" sz="2400" b="1" dirty="0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2400" b="1" dirty="0" err="1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Zufallsgenerator</a:t>
            </a:r>
            <a:r>
              <a:rPr lang="en-US" sz="2400" b="1" dirty="0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(</a:t>
            </a:r>
            <a:r>
              <a:rPr lang="en-US" sz="2400" b="1" dirty="0" err="1">
                <a:solidFill>
                  <a:schemeClr val="bg1">
                    <a:lumMod val="85000"/>
                  </a:scheme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nur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Claude;-)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Absatzvolumen in Hektolitern, exakt aus dem Original-Sales-Report übernommen.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828800"/>
          <a:ext cx="7315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2103120"/>
            <a:ext cx="3200400" cy="2331720"/>
          </a:xfrm>
          <a:prstGeom prst="roundRect">
            <a:avLst>
              <a:gd name="adj" fmla="val 2745"/>
            </a:avLst>
          </a:prstGeom>
          <a:solidFill>
            <a:srgbClr val="211711"/>
          </a:solidFill>
          <a:ln w="9525">
            <a:solidFill>
              <a:srgbClr val="E3D9C4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854964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C5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2026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549640" y="2971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E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laufendes Jahr — Stand bis April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49640" y="3474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· Discounts · COGS sind daraus mit realistischen Preisen und Kosten je Produkt und Jahr abgeleitet.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21040" y="4572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Teiljahr — daher der erwartete Einbruch im Balken.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Klassisches Sternschema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23060" y="2194560"/>
            <a:ext cx="1623060" cy="1463040"/>
          </a:xfrm>
          <a:prstGeom prst="line">
            <a:avLst/>
          </a:prstGeom>
          <a:noFill/>
          <a:ln w="1905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 flipV="1">
            <a:off x="3246120" y="2194560"/>
            <a:ext cx="2446020" cy="1463040"/>
          </a:xfrm>
          <a:prstGeom prst="line">
            <a:avLst/>
          </a:prstGeom>
          <a:noFill/>
          <a:ln w="1905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 flipV="1">
            <a:off x="1623060" y="3657600"/>
            <a:ext cx="1623060" cy="1874520"/>
          </a:xfrm>
          <a:prstGeom prst="line">
            <a:avLst/>
          </a:prstGeom>
          <a:noFill/>
          <a:ln w="1905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246120" y="3657600"/>
            <a:ext cx="2446020" cy="1874520"/>
          </a:xfrm>
          <a:prstGeom prst="line">
            <a:avLst/>
          </a:prstGeom>
          <a:noFill/>
          <a:ln w="1905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1874520" cy="914400"/>
          </a:xfrm>
          <a:prstGeom prst="roundRect">
            <a:avLst>
              <a:gd name="adj" fmla="val 6000"/>
            </a:avLst>
          </a:prstGeom>
          <a:solidFill>
            <a:srgbClr val="F8F2E6"/>
          </a:solidFill>
          <a:ln w="12700">
            <a:solidFill>
              <a:srgbClr val="C8860D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85800" y="188366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DimDate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täglich 2023–26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1874520" cy="914400"/>
          </a:xfrm>
          <a:prstGeom prst="roundRect">
            <a:avLst>
              <a:gd name="adj" fmla="val 6000"/>
            </a:avLst>
          </a:prstGeom>
          <a:solidFill>
            <a:srgbClr val="F8F2E6"/>
          </a:solidFill>
          <a:ln w="12700">
            <a:solidFill>
              <a:srgbClr val="C8860D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754880" y="188366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DimProduct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22402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Biere · Style · ABV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5074920"/>
            <a:ext cx="1874520" cy="914400"/>
          </a:xfrm>
          <a:prstGeom prst="roundRect">
            <a:avLst>
              <a:gd name="adj" fmla="val 6000"/>
            </a:avLst>
          </a:prstGeom>
          <a:solidFill>
            <a:srgbClr val="F8F2E6"/>
          </a:solidFill>
          <a:ln w="12700">
            <a:solidFill>
              <a:srgbClr val="C8860D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85800" y="522122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DimCustomer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55778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Großkunden · KeyAccountMgr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5074920"/>
            <a:ext cx="1874520" cy="914400"/>
          </a:xfrm>
          <a:prstGeom prst="roundRect">
            <a:avLst>
              <a:gd name="adj" fmla="val 6000"/>
            </a:avLst>
          </a:prstGeom>
          <a:solidFill>
            <a:srgbClr val="F8F2E6"/>
          </a:solidFill>
          <a:ln w="12700">
            <a:solidFill>
              <a:srgbClr val="C8860D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754880" y="522122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DimKennzahl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55778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· Net Sales · …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94560" y="315468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C8860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2194560" y="327355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FactActual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194560" y="36758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D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Long-/Account-Format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80960" y="2011680"/>
            <a:ext cx="3840480" cy="3108960"/>
          </a:xfrm>
          <a:prstGeom prst="roundRect">
            <a:avLst>
              <a:gd name="adj" fmla="val 2059"/>
            </a:avLst>
          </a:prstGeom>
          <a:solidFill>
            <a:srgbClr val="211711"/>
          </a:solidFill>
          <a:ln w="9525">
            <a:solidFill>
              <a:srgbClr val="E3D9C4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8001000" y="2331720"/>
            <a:ext cx="685800" cy="685800"/>
          </a:xfrm>
          <a:prstGeom prst="ellipse">
            <a:avLst/>
          </a:prstGeom>
          <a:solidFill>
            <a:srgbClr val="2C2016"/>
          </a:solidFill>
          <a:ln w="15875">
            <a:solidFill>
              <a:srgbClr val="E8C5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9308" y="2510028"/>
            <a:ext cx="329184" cy="32918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823960" y="23957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C5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Kernaussage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001000" y="3246120"/>
            <a:ext cx="3246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F2E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 im Long-Format: eine Kennzahl je Zeile über DimKennzahl — so, wie SAC &amp; Pyramid nativ rechnen.</a:t>
            </a:r>
            <a:endParaRPr lang="en-US" sz="14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2E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/ PL / PY / YTD entstehen als Measures — keine Szenario-Dimension.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Sauberes DWH trifft rohe Finance-Planung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349240" cy="3611880"/>
          </a:xfrm>
          <a:prstGeom prst="roundRect">
            <a:avLst>
              <a:gd name="adj" fmla="val 1772"/>
            </a:avLst>
          </a:prstGeom>
          <a:solidFill>
            <a:srgbClr val="F8F2E6"/>
          </a:solidFill>
          <a:ln w="9525">
            <a:solidFill>
              <a:srgbClr val="E3D9C4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960120" y="1645920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" y="183611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6916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IST · Sternschema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828800" y="20574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GEPFLEGTES DATA WAREHOUSE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51560" y="2606040"/>
            <a:ext cx="4572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Quelle, je Tabelle ein Blatt</a:t>
            </a:r>
            <a:endParaRPr lang="en-US" sz="13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Saubere Keys &amp; Datentypen</a:t>
            </a:r>
            <a:endParaRPr lang="en-US" sz="13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 verbindbar (Excel / SQLite / DB)</a:t>
            </a:r>
            <a:endParaRPr lang="en-US" sz="13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referenziert nur die Quelle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51560" y="43708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liefert es ein gepflegtes Data Warehouse.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325880"/>
            <a:ext cx="5349240" cy="3611880"/>
          </a:xfrm>
          <a:prstGeom prst="roundRect">
            <a:avLst>
              <a:gd name="adj" fmla="val 1772"/>
            </a:avLst>
          </a:prstGeom>
          <a:solidFill>
            <a:srgbClr val="F8F2E6"/>
          </a:solidFill>
          <a:ln w="9525">
            <a:solidFill>
              <a:srgbClr val="E3D9C4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6492240" y="1645920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435" y="183611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16916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 · Excel-Kreuztabelle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360920" y="20574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KOMMT PLANUNG AUS FINANCE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583680" y="2606040"/>
            <a:ext cx="4572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Titelblock, Beschreibung, Kommentare</a:t>
            </a:r>
            <a:endParaRPr lang="en-US" sz="13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Verbundene Zellen als Kunden-Kopf</a:t>
            </a:r>
            <a:endParaRPr lang="en-US" sz="13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Zwischensumme je Kunde + GRAND TOTAL</a:t>
            </a:r>
            <a:endParaRPr lang="en-US" sz="13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Datenstart erst in Zeile 11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583680" y="43708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muss das erst entwirren.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516636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21171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4"/>
          <p:cNvSpPr/>
          <p:nvPr/>
        </p:nvSpPr>
        <p:spPr>
          <a:xfrm>
            <a:off x="868680" y="516636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E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Kontroll-Summe nach dem Laden    </a:t>
            </a:r>
            <a:r>
              <a:rPr lang="en-US" sz="2200" b="1" dirty="0">
                <a:solidFill>
                  <a:srgbClr val="E8C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FactPlan = 17.474.100 €</a:t>
            </a:r>
            <a:r>
              <a:rPr lang="en-US" sz="1300" dirty="0">
                <a:solidFill>
                  <a:srgbClr val="A89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(GRAND TOTAL 2026)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Drei Tools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Live-Pitch: jedes Tool wird von einer Person umgesetzt.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4160520"/>
          </a:xfrm>
          <a:prstGeom prst="roundRect">
            <a:avLst>
              <a:gd name="adj" fmla="val 1818"/>
            </a:avLst>
          </a:prstGeom>
          <a:solidFill>
            <a:srgbClr val="F8F2E6"/>
          </a:solidFill>
          <a:ln w="9525">
            <a:solidFill>
              <a:srgbClr val="E3D9C4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26464" y="2066544"/>
            <a:ext cx="1947672" cy="1947672"/>
          </a:xfrm>
          <a:prstGeom prst="ellipse">
            <a:avLst/>
          </a:prstGeom>
          <a:solidFill>
            <a:srgbClr val="C8860D"/>
          </a:solidFill>
          <a:ln/>
          <a:effectLst>
            <a:outerShdw blurRad="889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6" name="Image 0" descr="micha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2148840"/>
            <a:ext cx="1783080" cy="178308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409651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Michael Tenner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44988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platformimpulse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51560" y="5166360"/>
            <a:ext cx="2697480" cy="502920"/>
          </a:xfrm>
          <a:prstGeom prst="roundRect">
            <a:avLst>
              <a:gd name="adj" fmla="val 49091"/>
            </a:avLst>
          </a:prstGeom>
          <a:solidFill>
            <a:srgbClr val="C8860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1051560" y="5166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07408" y="1783080"/>
            <a:ext cx="3520440" cy="4160520"/>
          </a:xfrm>
          <a:prstGeom prst="roundRect">
            <a:avLst>
              <a:gd name="adj" fmla="val 1818"/>
            </a:avLst>
          </a:prstGeom>
          <a:solidFill>
            <a:srgbClr val="F8F2E6"/>
          </a:solidFill>
          <a:ln w="9525">
            <a:solidFill>
              <a:srgbClr val="E3D9C4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5193792" y="2066544"/>
            <a:ext cx="1947672" cy="1947672"/>
          </a:xfrm>
          <a:prstGeom prst="ellipse">
            <a:avLst/>
          </a:prstGeom>
          <a:solidFill>
            <a:srgbClr val="7A5C3E"/>
          </a:solidFill>
          <a:ln/>
          <a:effectLst>
            <a:outerShdw blurRad="889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3" name="Image 1" descr="jan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88" y="2148840"/>
            <a:ext cx="1783080" cy="1783080"/>
          </a:xfrm>
          <a:prstGeom prst="ellipse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0288" y="409651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Janine Ellner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590288" y="44988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Opitz Consulting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818888" y="5166360"/>
            <a:ext cx="2697480" cy="502920"/>
          </a:xfrm>
          <a:prstGeom prst="roundRect">
            <a:avLst>
              <a:gd name="adj" fmla="val 49091"/>
            </a:avLst>
          </a:prstGeom>
          <a:solidFill>
            <a:srgbClr val="7A5C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3"/>
          <p:cNvSpPr/>
          <p:nvPr/>
        </p:nvSpPr>
        <p:spPr>
          <a:xfrm>
            <a:off x="4818888" y="5166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174736" y="1783080"/>
            <a:ext cx="3520440" cy="4160520"/>
          </a:xfrm>
          <a:prstGeom prst="roundRect">
            <a:avLst>
              <a:gd name="adj" fmla="val 1818"/>
            </a:avLst>
          </a:prstGeom>
          <a:solidFill>
            <a:srgbClr val="F8F2E6"/>
          </a:solidFill>
          <a:ln w="9525">
            <a:solidFill>
              <a:srgbClr val="E3D9C4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5"/>
          <p:cNvSpPr/>
          <p:nvPr/>
        </p:nvSpPr>
        <p:spPr>
          <a:xfrm>
            <a:off x="8961120" y="2066544"/>
            <a:ext cx="1947672" cy="1947672"/>
          </a:xfrm>
          <a:prstGeom prst="ellipse">
            <a:avLst/>
          </a:prstGeom>
          <a:solidFill>
            <a:srgbClr val="4A6670"/>
          </a:solidFill>
          <a:ln/>
          <a:effectLst>
            <a:outerShdw blurRad="889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0" name="Image 2" descr="Fal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16" y="2148840"/>
            <a:ext cx="1783080" cy="1783080"/>
          </a:xfrm>
          <a:prstGeom prst="ellipse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57616" y="409651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Falk Preuß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357616" y="44988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586216" y="5166360"/>
            <a:ext cx="2697480" cy="502920"/>
          </a:xfrm>
          <a:prstGeom prst="roundRect">
            <a:avLst>
              <a:gd name="adj" fmla="val 49091"/>
            </a:avLst>
          </a:prstGeom>
          <a:solidFill>
            <a:srgbClr val="4A667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19"/>
          <p:cNvSpPr/>
          <p:nvPr/>
        </p:nvSpPr>
        <p:spPr>
          <a:xfrm>
            <a:off x="8586216" y="5166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Analytics Cloud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8B4B29-A541-B163-C5C4-0D4B9A8C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F4EDAF-B3A0-F9D5-0583-518B1EA438AF}"/>
              </a:ext>
            </a:extLst>
          </p:cNvPr>
          <p:cNvSpPr/>
          <p:nvPr/>
        </p:nvSpPr>
        <p:spPr>
          <a:xfrm>
            <a:off x="717718" y="138195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Demo + 3 </a:t>
            </a:r>
            <a:r>
              <a:rPr lang="en-US" sz="4000" b="1" dirty="0" err="1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Personen</a:t>
            </a:r>
            <a:r>
              <a:rPr lang="en-US" sz="4000" b="1" dirty="0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+ KI-</a:t>
            </a:r>
            <a:r>
              <a:rPr lang="en-US" sz="4000" b="1" dirty="0" err="1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Nutzung</a:t>
            </a:r>
            <a:endParaRPr lang="en-US" sz="4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7891BF-D493-DCE7-43C4-21896312362B}"/>
              </a:ext>
            </a:extLst>
          </p:cNvPr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D06DD1D7-353B-79CC-DFFD-417B1849338E}"/>
              </a:ext>
            </a:extLst>
          </p:cNvPr>
          <p:cNvSpPr txBox="1"/>
          <p:nvPr/>
        </p:nvSpPr>
        <p:spPr>
          <a:xfrm>
            <a:off x="640080" y="2215264"/>
            <a:ext cx="2965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Was soll schon schief gehen…</a:t>
            </a:r>
          </a:p>
        </p:txBody>
      </p:sp>
    </p:spTree>
    <p:extLst>
      <p:ext uri="{BB962C8B-B14F-4D97-AF65-F5344CB8AC3E}">
        <p14:creationId xmlns:p14="http://schemas.microsoft.com/office/powerpoint/2010/main" val="2189876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17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2743200"/>
            <a:ext cx="4754880" cy="4754880"/>
          </a:xfrm>
          <a:prstGeom prst="ellipse">
            <a:avLst/>
          </a:prstGeom>
          <a:solidFill>
            <a:srgbClr val="2C201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9875520" y="-1645920"/>
            <a:ext cx="4206240" cy="4206240"/>
          </a:xfrm>
          <a:prstGeom prst="ellipse">
            <a:avLst/>
          </a:prstGeom>
          <a:solidFill>
            <a:srgbClr val="2C201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960120" cy="960120"/>
          </a:xfrm>
          <a:prstGeom prst="ellipse">
            <a:avLst/>
          </a:prstGeom>
          <a:solidFill>
            <a:srgbClr val="2C2016"/>
          </a:solidFill>
          <a:ln w="15875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" y="15755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8C5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 zdraví!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868680" y="35204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2E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 — Fragen &amp; Live-Demo gern jetzt.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868680" y="4617720"/>
            <a:ext cx="2103120" cy="0"/>
          </a:xfrm>
          <a:prstGeom prst="line">
            <a:avLst/>
          </a:prstGeom>
          <a:noFill/>
          <a:ln w="2540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868680" y="48006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A89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TDWI München 2026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513892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72400" y="1234440"/>
            <a:ext cx="3657600" cy="4434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7772400" y="14904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Feedback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95528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Meinung zählt — kurz scannen.</a:t>
            </a:r>
            <a:endParaRPr lang="en-US" sz="1300" dirty="0"/>
          </a:p>
        </p:txBody>
      </p:sp>
      <p:pic>
        <p:nvPicPr>
          <p:cNvPr id="14" name="Image 1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5340" y="2468880"/>
            <a:ext cx="2331720" cy="23317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955280" y="5166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Mi 8.6  ·  TDWI München 2026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7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2B81E-FA48-7625-FF2C-8201C54D9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C7B3D7-D1A4-EAE5-AFD5-3984F0561072}"/>
              </a:ext>
            </a:extLst>
          </p:cNvPr>
          <p:cNvSpPr/>
          <p:nvPr/>
        </p:nvSpPr>
        <p:spPr>
          <a:xfrm>
            <a:off x="-1554480" y="2743200"/>
            <a:ext cx="4754880" cy="4754880"/>
          </a:xfrm>
          <a:prstGeom prst="ellipse">
            <a:avLst/>
          </a:prstGeom>
          <a:solidFill>
            <a:srgbClr val="2C201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C3B99CC-05B3-8157-D5D9-E2E351958D69}"/>
              </a:ext>
            </a:extLst>
          </p:cNvPr>
          <p:cNvSpPr/>
          <p:nvPr/>
        </p:nvSpPr>
        <p:spPr>
          <a:xfrm>
            <a:off x="9875520" y="-1645920"/>
            <a:ext cx="4206240" cy="4206240"/>
          </a:xfrm>
          <a:prstGeom prst="ellipse">
            <a:avLst/>
          </a:prstGeom>
          <a:solidFill>
            <a:srgbClr val="2C201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79BE865-3A4C-B0BA-DD1C-970C443AB942}"/>
              </a:ext>
            </a:extLst>
          </p:cNvPr>
          <p:cNvSpPr/>
          <p:nvPr/>
        </p:nvSpPr>
        <p:spPr>
          <a:xfrm>
            <a:off x="868680" y="1325880"/>
            <a:ext cx="960120" cy="960120"/>
          </a:xfrm>
          <a:prstGeom prst="ellipse">
            <a:avLst/>
          </a:prstGeom>
          <a:solidFill>
            <a:srgbClr val="2C2016"/>
          </a:solidFill>
          <a:ln w="15875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7E20299-A667-9929-3A79-CEAAB7FD5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" y="1575511"/>
            <a:ext cx="460858" cy="46085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C29859D9-DA25-1EC7-A634-A81621D7E4E2}"/>
              </a:ext>
            </a:extLst>
          </p:cNvPr>
          <p:cNvSpPr/>
          <p:nvPr/>
        </p:nvSpPr>
        <p:spPr>
          <a:xfrm>
            <a:off x="822960" y="233172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8C5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 zdraví!</a:t>
            </a:r>
            <a:endParaRPr lang="en-US" sz="5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2C89B5D-51F7-FA9D-8D1D-7FB0F138A282}"/>
              </a:ext>
            </a:extLst>
          </p:cNvPr>
          <p:cNvSpPr/>
          <p:nvPr/>
        </p:nvSpPr>
        <p:spPr>
          <a:xfrm>
            <a:off x="868680" y="35204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2E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 — Fragen &amp; Live-Demo gern jetzt.</a:t>
            </a:r>
            <a:endParaRPr lang="en-US" sz="21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E45F569-5713-9B2D-5E70-61DC341CE077}"/>
              </a:ext>
            </a:extLst>
          </p:cNvPr>
          <p:cNvSpPr/>
          <p:nvPr/>
        </p:nvSpPr>
        <p:spPr>
          <a:xfrm>
            <a:off x="868680" y="4617720"/>
            <a:ext cx="2103120" cy="0"/>
          </a:xfrm>
          <a:prstGeom prst="line">
            <a:avLst/>
          </a:prstGeom>
          <a:noFill/>
          <a:ln w="2540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1781D91-343C-DDE1-3440-9EA8FDEC260D}"/>
              </a:ext>
            </a:extLst>
          </p:cNvPr>
          <p:cNvSpPr/>
          <p:nvPr/>
        </p:nvSpPr>
        <p:spPr>
          <a:xfrm>
            <a:off x="868680" y="48006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A89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Tenner  ·  TDWI München 2026</a:t>
            </a:r>
            <a:endParaRPr lang="en-US" sz="1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35185DD-ED79-579F-61BE-96C8227336A3}"/>
              </a:ext>
            </a:extLst>
          </p:cNvPr>
          <p:cNvSpPr/>
          <p:nvPr/>
        </p:nvSpPr>
        <p:spPr>
          <a:xfrm>
            <a:off x="868680" y="513892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A89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github.com/Losveratos/TDWI2026</a:t>
            </a:r>
            <a:endParaRPr lang="en-US" sz="14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BDD9C64-3AB5-6E39-1572-AC9E2A2E79B1}"/>
              </a:ext>
            </a:extLst>
          </p:cNvPr>
          <p:cNvSpPr/>
          <p:nvPr/>
        </p:nvSpPr>
        <p:spPr>
          <a:xfrm>
            <a:off x="7772400" y="1234440"/>
            <a:ext cx="3657600" cy="4434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790ED98-FD3C-57E0-548F-21020490EC22}"/>
              </a:ext>
            </a:extLst>
          </p:cNvPr>
          <p:cNvSpPr/>
          <p:nvPr/>
        </p:nvSpPr>
        <p:spPr>
          <a:xfrm>
            <a:off x="7772400" y="14904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2018"/>
                </a:solidFill>
                <a:latin typeface="Bookman Old Style" pitchFamily="34" charset="0"/>
              </a:rPr>
              <a:t>Die </a:t>
            </a:r>
            <a:r>
              <a:rPr lang="en-US" sz="2400" b="1" dirty="0" err="1">
                <a:solidFill>
                  <a:srgbClr val="2A2018"/>
                </a:solidFill>
                <a:latin typeface="Bookman Old Style" pitchFamily="34" charset="0"/>
              </a:rPr>
              <a:t>Unterlagen</a:t>
            </a:r>
            <a:r>
              <a:rPr lang="en-US" sz="2400" b="1" dirty="0">
                <a:solidFill>
                  <a:srgbClr val="2A2018"/>
                </a:solidFill>
                <a:latin typeface="Bookman Old Style" pitchFamily="34" charset="0"/>
              </a:rPr>
              <a:t> </a:t>
            </a:r>
            <a:endParaRPr lang="en-US" sz="24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89B36E0-67B1-FBC3-8AB0-1D167DDA89F5}"/>
              </a:ext>
            </a:extLst>
          </p:cNvPr>
          <p:cNvSpPr/>
          <p:nvPr/>
        </p:nvSpPr>
        <p:spPr>
          <a:xfrm>
            <a:off x="795528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6D365C51-8460-5666-9AC5-7981988B44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5340" y="2468880"/>
            <a:ext cx="2331720" cy="2331720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40124612-37B1-1432-BFC1-E169A70113CB}"/>
              </a:ext>
            </a:extLst>
          </p:cNvPr>
          <p:cNvSpPr/>
          <p:nvPr/>
        </p:nvSpPr>
        <p:spPr>
          <a:xfrm>
            <a:off x="7955280" y="5166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797530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</Words>
  <Application>Microsoft Office PowerPoint</Application>
  <PresentationFormat>Breitbild</PresentationFormat>
  <Paragraphs>98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Arial</vt:lpstr>
      <vt:lpstr>Bookman Old Style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ZLATÝ LEV — Drei Tools, ein Datenmodell</dc:title>
  <dc:subject>PptxGenJS Presentation</dc:subject>
  <dc:creator>Michael Tenner</dc:creator>
  <cp:lastModifiedBy>Michael Tenner</cp:lastModifiedBy>
  <cp:revision>2</cp:revision>
  <dcterms:created xsi:type="dcterms:W3CDTF">2026-06-23T23:06:52Z</dcterms:created>
  <dcterms:modified xsi:type="dcterms:W3CDTF">2026-06-24T15:06:34Z</dcterms:modified>
</cp:coreProperties>
</file>